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89868A9-658A-4A2C-BBF3-761BF4F65E7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09EAD37-FC04-4271-AAA2-C4EC32499AB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140381F-3562-4D8B-AD0A-BCB7914289D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519CFDD-5C36-43C0-B2A3-EEA9718E0AF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9C44A63-1293-423F-9FD1-52B406CFDFE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15DA8D3-F481-45C4-89A1-F1263C8BC47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3ED6241-8270-4AB4-88C2-50009B4A4F1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6C707D7-7A6B-4B0D-BFC5-97B42BB53D1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C897D78-B24A-48C2-828D-140883D296A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D0B159D-9F55-4ED8-9B4E-0D1539A4B0F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D2E329-2E30-4705-8655-4123DDCCE8E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1"/>
          <p:cNvSpPr/>
          <p:nvPr/>
        </p:nvSpPr>
        <p:spPr>
          <a:xfrm>
            <a:off x="731520" y="45720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11827"/>
                </a:solidFill>
                <a:effectLst/>
                <a:uFillTx/>
                <a:latin typeface="Calibri"/>
              </a:rPr>
              <a:t>SYSTECH-HA-001 — Centralized DNS Service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Box 2"/>
          <p:cNvSpPr/>
          <p:nvPr/>
        </p:nvSpPr>
        <p:spPr>
          <a:xfrm>
            <a:off x="731520" y="100584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4b5563"/>
                </a:solidFill>
                <a:effectLst/>
                <a:uFillTx/>
                <a:latin typeface="Calibri"/>
              </a:rPr>
              <a:t>LXC Container · dnsmasq · Local Name Resolution &amp; Upstream Forwarding · Security &amp; Monitoring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Rounded Rectangle 3"/>
          <p:cNvSpPr/>
          <p:nvPr/>
        </p:nvSpPr>
        <p:spPr>
          <a:xfrm>
            <a:off x="731520" y="1645920"/>
            <a:ext cx="3840120" cy="457164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" name="TextBox 4"/>
          <p:cNvSpPr/>
          <p:nvPr/>
        </p:nvSpPr>
        <p:spPr>
          <a:xfrm>
            <a:off x="914400" y="1828800"/>
            <a:ext cx="3474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DNS SERVER (dns01)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Rounded Rectangle 5"/>
          <p:cNvSpPr/>
          <p:nvPr/>
        </p:nvSpPr>
        <p:spPr>
          <a:xfrm>
            <a:off x="2103120" y="2468880"/>
            <a:ext cx="1096920" cy="146268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62" name="Table 6"/>
          <p:cNvGraphicFramePr/>
          <p:nvPr/>
        </p:nvGraphicFramePr>
        <p:xfrm>
          <a:off x="914400" y="4114800"/>
          <a:ext cx="3474360" cy="1828800"/>
        </p:xfrm>
        <a:graphic>
          <a:graphicData uri="http://schemas.openxmlformats.org/drawingml/2006/table">
            <a:tbl>
              <a:tblPr/>
              <a:tblGrid>
                <a:gridCol w="1188720"/>
                <a:gridCol w="2286000"/>
              </a:tblGrid>
              <a:tr h="457200"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Ubuntu</a:t>
                      </a:r>
                      <a:endParaRPr b="0" lang="pt-B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24.04 LTS (LXC)</a:t>
                      </a:r>
                      <a:endParaRPr b="0" lang="pt-B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</a:tr>
              <a:tr h="457200"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IP:</a:t>
                      </a:r>
                      <a:endParaRPr b="0" lang="pt-B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10.10.10.20/24</a:t>
                      </a:r>
                      <a:endParaRPr b="0" lang="pt-B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</a:tr>
              <a:tr h="457200"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Software:</a:t>
                      </a:r>
                      <a:endParaRPr b="0" lang="pt-B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dnsmasq v2.90</a:t>
                      </a:r>
                      <a:endParaRPr b="0" lang="pt-B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</a:tr>
              <a:tr h="457200"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Domain:</a:t>
                      </a:r>
                      <a:endParaRPr b="0" lang="pt-B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lab.systech.internal</a:t>
                      </a:r>
                      <a:endParaRPr b="0" lang="pt-B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</a:tr>
            </a:tbl>
          </a:graphicData>
        </a:graphic>
      </p:graphicFrame>
      <p:sp>
        <p:nvSpPr>
          <p:cNvPr id="63" name="Rounded Rectangle 7"/>
          <p:cNvSpPr/>
          <p:nvPr/>
        </p:nvSpPr>
        <p:spPr>
          <a:xfrm>
            <a:off x="4846320" y="1645920"/>
            <a:ext cx="3291480" cy="54828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Core Capabilities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8"/>
          <p:cNvSpPr/>
          <p:nvPr/>
        </p:nvSpPr>
        <p:spPr>
          <a:xfrm>
            <a:off x="4846320" y="2286000"/>
            <a:ext cx="32914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</a:rPr>
              <a:t>•  Internal resolution</a:t>
            </a:r>
            <a:br>
              <a:rPr sz="1300"/>
            </a:b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</a:rPr>
              <a:t>   lab.systech.local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</a:rPr>
              <a:t>•  Upstream forwarding (8.8.8.8)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</a:rPr>
              <a:t>•  &lt;1ms latency cached responses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ounded Rectangle 9"/>
          <p:cNvSpPr/>
          <p:nvPr/>
        </p:nvSpPr>
        <p:spPr>
          <a:xfrm>
            <a:off x="8412480" y="1645920"/>
            <a:ext cx="3291480" cy="54828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Software &amp; Config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10"/>
          <p:cNvSpPr/>
          <p:nvPr/>
        </p:nvSpPr>
        <p:spPr>
          <a:xfrm>
            <a:off x="8412480" y="2286000"/>
            <a:ext cx="32914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</a:rPr>
              <a:t>•  Managed via Ansible IaC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</a:rPr>
              <a:t>•  etc/dnsmasq.hosts configured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</a:rPr>
              <a:t>•  dnsmasq config details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ounded Rectangle 11"/>
          <p:cNvSpPr/>
          <p:nvPr/>
        </p:nvSpPr>
        <p:spPr>
          <a:xfrm>
            <a:off x="4846320" y="4023360"/>
            <a:ext cx="3291480" cy="54828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Operations &amp; Maintenance</a:t>
            </a:r>
            <a:endParaRPr b="0" lang="pt-B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12"/>
          <p:cNvSpPr/>
          <p:nvPr/>
        </p:nvSpPr>
        <p:spPr>
          <a:xfrm>
            <a:off x="4846320" y="4663440"/>
            <a:ext cx="32914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</a:rPr>
              <a:t>•  Automated health checks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</a:rPr>
              <a:t>•  Systemd service management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</a:rPr>
              <a:t>•  Centralized log collection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ounded Rectangle 13"/>
          <p:cNvSpPr/>
          <p:nvPr/>
        </p:nvSpPr>
        <p:spPr>
          <a:xfrm>
            <a:off x="8412480" y="4023360"/>
            <a:ext cx="3291480" cy="54828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Security &amp; Performance</a:t>
            </a:r>
            <a:endParaRPr b="0" lang="pt-B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4"/>
          <p:cNvSpPr/>
          <p:nvPr/>
        </p:nvSpPr>
        <p:spPr>
          <a:xfrm>
            <a:off x="8412480" y="4663440"/>
            <a:ext cx="32914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</a:rPr>
              <a:t>•  UFW firewall TCP/UDP 53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</a:rPr>
              <a:t>•  DDoS protection basics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</a:rPr>
              <a:t>•  Performance metrics example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LibreOffice/25.2.3.2$Linux_X86_64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2026-08-24T04:37:47Z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